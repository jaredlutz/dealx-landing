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silence and eye contact. 'You invested in this company. Tonight I'm going to show you exactly how that investment grows in value — and how you start seeing distributions.'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their real question out loud before they ask it. This builds instant trust — you're not hiding from 'when do I get paid?'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Deliver slowly. Survival through this market is the credential — not a footnote.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Confidence in leadership = evidence of resilience. Be specific about one or two hard moments and the decision you made in each.</a:t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slide earns you the right to talk about the future.</a:t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strategy headline. Tech companies are valued at multiples real estate companies never see — that's the value-creation engine for their shares.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this concrete. One or two named product milestones with rough dates beats ten vague promises.</a:t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Shareholders have watched startups die waiting for the next check. Self-sufficiency is the confidence slide.</a:t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it plainly: money comes in at 15%, we target 20% returns, and we turn the same dollars 2–3 times a year — that spread and velocity is what generates distributions and enterprise value.</a:t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it personal: 'I don't need Wall Street. I need the people who already believed once, to believe out loud.'</a:t>
            </a:r>
            <a:endParaRPr/>
          </a:p>
        </p:txBody>
      </p:sp>
      <p:sp>
        <p:nvSpPr>
          <p:cNvPr id="223" name="Google Shape;2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WIIFM payoff slide. Every reinvestment and every referral compresses the timeline.</a:t>
            </a:r>
            <a:endParaRPr/>
          </a:p>
        </p:txBody>
      </p:sp>
      <p:sp>
        <p:nvSpPr>
          <p:cNvPr id="256" name="Google Shape;25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Don't threaten — frame it as physics: speed of capital = speed of outcome. Their action sets the clock.</a:t>
            </a:r>
            <a:endParaRPr/>
          </a:p>
        </p:txBody>
      </p:sp>
      <p:sp>
        <p:nvSpPr>
          <p:cNvPr id="282" name="Google Shape;2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Sophisticated investors want optionality, not a single fairy-tale exit. Three doors, any one of which pays.</a:t>
            </a:r>
            <a:endParaRPr/>
          </a:p>
        </p:txBody>
      </p:sp>
      <p:sp>
        <p:nvSpPr>
          <p:cNvPr id="298" name="Google Shape;29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direct and unembarrassed. A clear ask signals a leader who knows exactly where he's going.</a:t>
            </a:r>
            <a:endParaRPr/>
          </a:p>
        </p:txBody>
      </p:sp>
      <p:sp>
        <p:nvSpPr>
          <p:cNvPr id="324" name="Google Shape;32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on gratitude + momentum. 'You've already shown patience. Now I'm asking for velocity.' Then stop talking and open the room.</a:t>
            </a:r>
            <a:endParaRPr/>
          </a:p>
        </p:txBody>
      </p:sp>
      <p:sp>
        <p:nvSpPr>
          <p:cNvPr id="352" name="Google Shape;35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082735" y="-2103120"/>
            <a:ext cx="5669280" cy="5669280"/>
          </a:xfrm>
          <a:prstGeom prst="ellipse">
            <a:avLst/>
          </a:prstGeom>
          <a:solidFill>
            <a:srgbClr val="0F315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2011680" y="4480560"/>
            <a:ext cx="4572000" cy="4572000"/>
          </a:xfrm>
          <a:prstGeom prst="ellipse">
            <a:avLst/>
          </a:prstGeom>
          <a:solidFill>
            <a:srgbClr val="0F315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184708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DIVERSYFUND  ·  SHAREHOLDER BRIEFING  · 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2212848"/>
            <a:ext cx="10607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Path Forward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370332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D7F6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BAD7F6"/>
                </a:solidFill>
                <a:latin typeface="Calibri"/>
                <a:ea typeface="Calibri"/>
                <a:cs typeface="Calibri"/>
                <a:sym typeface="Calibri"/>
              </a:rPr>
              <a:t>Still here. Still yours. Still building.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40080" y="5897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Craig Cecilio</a:t>
            </a:r>
            <a:r>
              <a:rPr b="0" i="0" lang="en-US" sz="1400" u="none" cap="none" strike="noStrike">
                <a:solidFill>
                  <a:srgbClr val="7FA6D0"/>
                </a:solidFill>
                <a:latin typeface="Calibri"/>
                <a:ea typeface="Calibri"/>
                <a:cs typeface="Calibri"/>
                <a:sym typeface="Calibri"/>
              </a:rPr>
              <a:t>   Founder &amp; Chief Executive Officer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WHY YOU'RE HERE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Two things. That's the whole presentation.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1965960"/>
            <a:ext cx="5257800" cy="3246120"/>
          </a:xfrm>
          <a:prstGeom prst="roundRect">
            <a:avLst>
              <a:gd fmla="val 2535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051560" y="228600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846320" y="2377440"/>
            <a:ext cx="658368" cy="658368"/>
          </a:xfrm>
          <a:prstGeom prst="ellipse">
            <a:avLst/>
          </a:prstGeom>
          <a:solidFill>
            <a:srgbClr val="0B62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7496" y="254861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051560" y="3447288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Increase the value of your investment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51560" y="4343400"/>
            <a:ext cx="4434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A fintech valuation path that re-rates what your shares are worth.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291072" y="1965960"/>
            <a:ext cx="5257800" cy="3246120"/>
          </a:xfrm>
          <a:prstGeom prst="roundRect">
            <a:avLst>
              <a:gd fmla="val 2535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702552" y="2286000"/>
            <a:ext cx="1097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497312" y="2377440"/>
            <a:ext cx="658368" cy="658368"/>
          </a:xfrm>
          <a:prstGeom prst="ellipse">
            <a:avLst/>
          </a:prstGeom>
          <a:solidFill>
            <a:srgbClr val="0B62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488" y="254861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6702552" y="3447288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Get you a distribution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702552" y="4343400"/>
            <a:ext cx="4434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Turning revenue back on is what starts cash moving to shareholders.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Everything you see tonight ladders up to these two outcomes.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TRACK RECORD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One of the originals — and still standing.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40080" y="1965960"/>
            <a:ext cx="10911535" cy="1078992"/>
          </a:xfrm>
          <a:prstGeom prst="roundRect">
            <a:avLst>
              <a:gd fmla="val 5932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3317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1600200" y="2075688"/>
            <a:ext cx="53949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Most real estate crowdfunding platforms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132320" y="2075688"/>
            <a:ext cx="4053535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Out of business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0080" y="3300984"/>
            <a:ext cx="10911535" cy="1078992"/>
          </a:xfrm>
          <a:prstGeom prst="roundRect">
            <a:avLst>
              <a:gd fmla="val 5932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36667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1600200" y="3410712"/>
            <a:ext cx="53949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Most real estate syndicators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132320" y="3410712"/>
            <a:ext cx="4053535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Out of business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" y="4636008"/>
            <a:ext cx="10911535" cy="1078992"/>
          </a:xfrm>
          <a:prstGeom prst="roundRect">
            <a:avLst>
              <a:gd fmla="val 5932" name="adj"/>
            </a:avLst>
          </a:prstGeom>
          <a:solidFill>
            <a:srgbClr val="071C33"/>
          </a:solidFill>
          <a:ln cap="flat" cmpd="sng" w="12700">
            <a:solidFill>
              <a:srgbClr val="071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" y="5001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/>
          <p:nvPr/>
        </p:nvSpPr>
        <p:spPr>
          <a:xfrm>
            <a:off x="1600200" y="4745736"/>
            <a:ext cx="539496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DiversyFund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132320" y="4745736"/>
            <a:ext cx="4053535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FA0FF"/>
                </a:solidFill>
                <a:latin typeface="Calibri"/>
                <a:ea typeface="Calibri"/>
                <a:cs typeface="Calibri"/>
                <a:sym typeface="Calibri"/>
              </a:rPr>
              <a:t>Still operating. Still managing the portfolio.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Founded as one of the first platforms in the space — a survivor of the industry's full collapse.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RESILIENCE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Multiple cycles. Multiple obstacles. Still managing your capital.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40080" y="2029968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991" y="2186879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1508760" y="196596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Rate shock &amp; credit crunch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508760" y="235915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A downturn that wiped out our competitors.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40080" y="3118104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991" y="3275015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>
            <a:off x="1508760" y="3054096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Capital markets closed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508760" y="344728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Outside funding effectively shut off for the sector.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40080" y="4206240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6991" y="436315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1508760" y="4142232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We adapted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508760" y="453542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Restructured operations and cut burn to protect the business.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40080" y="5294376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6991" y="5451287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1508760" y="5230368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We protected the portfolio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508760" y="562356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Active management, through every cycle.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406640" y="1920240"/>
            <a:ext cx="4144975" cy="4251960"/>
          </a:xfrm>
          <a:prstGeom prst="roundRect">
            <a:avLst>
              <a:gd fmla="val 1985" name="adj"/>
            </a:avLst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8976208" y="2423160"/>
            <a:ext cx="1005840" cy="1005840"/>
          </a:xfrm>
          <a:prstGeom prst="ellipse">
            <a:avLst/>
          </a:prstGeom>
          <a:solidFill>
            <a:srgbClr val="0F31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7726" y="2684678"/>
            <a:ext cx="482803" cy="48280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7772400" y="3703320"/>
            <a:ext cx="341345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investor capital lost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7863840" y="4663440"/>
            <a:ext cx="323057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4C8E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A4C8EE"/>
                </a:solidFill>
                <a:latin typeface="Calibri"/>
                <a:ea typeface="Calibri"/>
                <a:cs typeface="Calibri"/>
                <a:sym typeface="Calibri"/>
              </a:rPr>
              <a:t>We are still actively managing the portfolios entrusted to us.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3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9082735" y="-2103120"/>
            <a:ext cx="5669280" cy="5669280"/>
          </a:xfrm>
          <a:prstGeom prst="ellipse">
            <a:avLst/>
          </a:prstGeom>
          <a:solidFill>
            <a:srgbClr val="0F315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-2011680" y="4480560"/>
            <a:ext cx="4572000" cy="4572000"/>
          </a:xfrm>
          <a:prstGeom prst="ellipse">
            <a:avLst/>
          </a:prstGeom>
          <a:solidFill>
            <a:srgbClr val="0F315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THE INDUSTRY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field collapsed. We didn't.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40080" y="2057400"/>
            <a:ext cx="5257800" cy="3017520"/>
          </a:xfrm>
          <a:prstGeom prst="roundRect">
            <a:avLst>
              <a:gd fmla="val 2727" name="adj"/>
            </a:avLst>
          </a:prstGeom>
          <a:solidFill>
            <a:srgbClr val="0F31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1051560" y="242316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6D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7FA6D0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051560" y="2834640"/>
            <a:ext cx="4434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Dozens of platforms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051560" y="3749040"/>
            <a:ext cx="4434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EE4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9CBEE4"/>
                </a:solidFill>
                <a:latin typeface="Calibri"/>
                <a:ea typeface="Calibri"/>
                <a:cs typeface="Calibri"/>
                <a:sym typeface="Calibri"/>
              </a:rPr>
              <a:t>A crowded field chasing the same capital, most with no cycle experience.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291072" y="2057400"/>
            <a:ext cx="5257800" cy="3017520"/>
          </a:xfrm>
          <a:prstGeom prst="roundRect">
            <a:avLst>
              <a:gd fmla="val 27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702552" y="242316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NOW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702552" y="2834640"/>
            <a:ext cx="4434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C3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71C33"/>
                </a:solidFill>
                <a:latin typeface="Arial"/>
                <a:ea typeface="Arial"/>
                <a:cs typeface="Arial"/>
                <a:sym typeface="Arial"/>
              </a:rPr>
              <a:t>A handful left — DiversyFund among them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702552" y="4069080"/>
            <a:ext cx="4434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Survival wasn't luck. It was discipline, cycle experience, and portfolio management.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40080" y="5623560"/>
            <a:ext cx="109115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The platforms that remain will own the next decade.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0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90B8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90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90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THE STRATEGY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We are a fintech company.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40080" y="2103120"/>
            <a:ext cx="3310128" cy="2286000"/>
          </a:xfrm>
          <a:prstGeom prst="roundRect">
            <a:avLst>
              <a:gd fmla="val 3600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960120" y="23774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CE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DBCE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960120" y="2880360"/>
            <a:ext cx="26700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Retail investment platform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960120" y="3749040"/>
            <a:ext cx="26700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Where we started. No longer forward-facing.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3063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8"/>
          <p:cNvSpPr/>
          <p:nvPr/>
        </p:nvSpPr>
        <p:spPr>
          <a:xfrm>
            <a:off x="4453128" y="2103120"/>
            <a:ext cx="3310128" cy="2286000"/>
          </a:xfrm>
          <a:prstGeom prst="roundRect">
            <a:avLst>
              <a:gd fmla="val 3600" name="adj"/>
            </a:avLst>
          </a:prstGeom>
          <a:solidFill>
            <a:srgbClr val="071C33"/>
          </a:solidFill>
          <a:ln cap="flat" cmpd="sng" w="12700">
            <a:solidFill>
              <a:srgbClr val="071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4773168" y="23774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4773168" y="2880360"/>
            <a:ext cx="26700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AI-powered fintech / SaaS platform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4773168" y="3749040"/>
            <a:ext cx="26700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4C8E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4C8EE"/>
                </a:solidFill>
                <a:latin typeface="Calibri"/>
                <a:ea typeface="Calibri"/>
                <a:cs typeface="Calibri"/>
                <a:sym typeface="Calibri"/>
              </a:rPr>
              <a:t>Technology built and monetized in the background.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6408" y="3063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/>
          <p:nvPr/>
        </p:nvSpPr>
        <p:spPr>
          <a:xfrm>
            <a:off x="8266176" y="2103120"/>
            <a:ext cx="3310128" cy="2286000"/>
          </a:xfrm>
          <a:prstGeom prst="roundRect">
            <a:avLst>
              <a:gd fmla="val 3600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8586216" y="23774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CE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DBCE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8586216" y="2880360"/>
            <a:ext cx="2670048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SaaS profits fund the investing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8586216" y="3749040"/>
            <a:ext cx="26700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Future deals funded by our own revenue — not raises.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640080" y="4892040"/>
            <a:ext cx="10911535" cy="868680"/>
          </a:xfrm>
          <a:prstGeom prst="roundRect">
            <a:avLst>
              <a:gd fmla="val 7368" name="adj"/>
            </a:avLst>
          </a:prstGeom>
          <a:solidFill>
            <a:srgbClr val="EBF3FE"/>
          </a:solidFill>
          <a:ln cap="flat" cmpd="sng" w="15875">
            <a:solidFill>
              <a:srgbClr val="0B62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1051560" y="5029200"/>
            <a:ext cx="1008857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E2038"/>
                </a:solidFill>
                <a:latin typeface="Calibri"/>
                <a:ea typeface="Calibri"/>
                <a:cs typeface="Calibri"/>
                <a:sym typeface="Calibri"/>
              </a:rPr>
              <a:t>This is one of the last funds we will raise directly.  </a:t>
            </a:r>
            <a:r>
              <a:rPr b="0" i="0" lang="en-US" sz="15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After this, the technology carries the model.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TECHNOLOGY ROADMAP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AI across the platform — a roadmap, not a buzzword.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640080" y="2057400"/>
            <a:ext cx="2551176" cy="2651760"/>
          </a:xfrm>
          <a:prstGeom prst="roundRect">
            <a:avLst>
              <a:gd fmla="val 3226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960120" y="2377440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031" y="253435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/>
          <p:nvPr/>
        </p:nvSpPr>
        <p:spPr>
          <a:xfrm>
            <a:off x="960120" y="3154680"/>
            <a:ext cx="19110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Underwriting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960120" y="3611880"/>
            <a:ext cx="191109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AI-assisted deal screening — faster, more consistent decisions.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3429000" y="2057400"/>
            <a:ext cx="2551176" cy="2651760"/>
          </a:xfrm>
          <a:prstGeom prst="roundRect">
            <a:avLst>
              <a:gd fmla="val 3226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3749040" y="2377440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05951" y="253435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/>
          <p:nvPr/>
        </p:nvSpPr>
        <p:spPr>
          <a:xfrm>
            <a:off x="3749040" y="3154680"/>
            <a:ext cx="19110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Portfolio management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749040" y="3611880"/>
            <a:ext cx="191109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Live monitoring and optimization across every asset.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217920" y="2057400"/>
            <a:ext cx="2551176" cy="2651760"/>
          </a:xfrm>
          <a:prstGeom prst="roundRect">
            <a:avLst>
              <a:gd fmla="val 3226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537960" y="2377440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94871" y="253435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9"/>
          <p:cNvSpPr/>
          <p:nvPr/>
        </p:nvSpPr>
        <p:spPr>
          <a:xfrm>
            <a:off x="6537960" y="3154680"/>
            <a:ext cx="19110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Investor servicing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537960" y="3611880"/>
            <a:ext cx="191109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Automated onboarding, reporting, and support at scale.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9006840" y="2057400"/>
            <a:ext cx="2551176" cy="2651760"/>
          </a:xfrm>
          <a:prstGeom prst="roundRect">
            <a:avLst>
              <a:gd fmla="val 3226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9326880" y="2377440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83791" y="253435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9"/>
          <p:cNvSpPr/>
          <p:nvPr/>
        </p:nvSpPr>
        <p:spPr>
          <a:xfrm>
            <a:off x="9326880" y="3154680"/>
            <a:ext cx="19110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9326880" y="3611880"/>
            <a:ext cx="191109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Automation drives margin — fewer hands, faster cycles.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Recurring SaaS revenue is valued at technology multiples — </a:t>
            </a:r>
            <a:r>
              <a:rPr b="1" i="0" lang="en-US" sz="1550" u="none" cap="none" strike="noStrike">
                <a:solidFill>
                  <a:srgbClr val="0E2038"/>
                </a:solidFill>
                <a:latin typeface="Calibri"/>
                <a:ea typeface="Calibri"/>
                <a:cs typeface="Calibri"/>
                <a:sym typeface="Calibri"/>
              </a:rPr>
              <a:t>and every dollar raised accelerates the build.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SELF-SUFFICIENCY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Turning revenue back 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0848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/>
          <p:nvPr/>
        </p:nvSpPr>
        <p:spPr>
          <a:xfrm>
            <a:off x="1234440" y="205740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No dilution treadmill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234440" y="248716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We stop depending on the next outside check.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1" name="Google Shape;1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3192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/>
          <p:nvPr/>
        </p:nvSpPr>
        <p:spPr>
          <a:xfrm>
            <a:off x="1234440" y="329184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No venture-market dependence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234440" y="372160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Capital markets can close again — it won't matter.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55371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0"/>
          <p:cNvSpPr/>
          <p:nvPr/>
        </p:nvSpPr>
        <p:spPr>
          <a:xfrm>
            <a:off x="1234440" y="4526280"/>
            <a:ext cx="5212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Durable by design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234440" y="4956048"/>
            <a:ext cx="5212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A company that funds itself is a company that lasts.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7315200" y="2011680"/>
            <a:ext cx="4236415" cy="3931920"/>
          </a:xfrm>
          <a:prstGeom prst="roundRect">
            <a:avLst>
              <a:gd fmla="val 2093" name="adj"/>
            </a:avLst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8976208" y="2468880"/>
            <a:ext cx="914400" cy="914400"/>
          </a:xfrm>
          <a:prstGeom prst="ellipse">
            <a:avLst/>
          </a:prstGeom>
          <a:solidFill>
            <a:srgbClr val="0F31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9" name="Google Shape;18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13952" y="270662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/>
          <p:nvPr/>
        </p:nvSpPr>
        <p:spPr>
          <a:xfrm>
            <a:off x="7680960" y="3657600"/>
            <a:ext cx="350489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Revenue funds technology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7680960" y="4096512"/>
            <a:ext cx="35048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FA0FF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7680960" y="4407408"/>
            <a:ext cx="350489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Technology compounds revenue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7680960" y="5166360"/>
            <a:ext cx="3504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FA0FF"/>
                </a:solidFill>
                <a:latin typeface="Calibri"/>
                <a:ea typeface="Calibri"/>
                <a:cs typeface="Calibri"/>
                <a:sym typeface="Calibri"/>
              </a:rPr>
              <a:t>The self-sustaining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33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9082735" y="-2103120"/>
            <a:ext cx="5669280" cy="5669280"/>
          </a:xfrm>
          <a:prstGeom prst="ellipse">
            <a:avLst/>
          </a:prstGeom>
          <a:solidFill>
            <a:srgbClr val="0F315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-2011680" y="4480560"/>
            <a:ext cx="4572000" cy="4572000"/>
          </a:xfrm>
          <a:prstGeom prst="ellipse">
            <a:avLst/>
          </a:prstGeom>
          <a:solidFill>
            <a:srgbClr val="0F315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THE PLAN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Simple math. Aggressive execution.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40080" y="2286000"/>
            <a:ext cx="2551176" cy="2377440"/>
          </a:xfrm>
          <a:prstGeom prst="roundRect">
            <a:avLst>
              <a:gd fmla="val 3462" name="adj"/>
            </a:avLst>
          </a:prstGeom>
          <a:solidFill>
            <a:srgbClr val="0F31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822960" y="2743200"/>
            <a:ext cx="21854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$35M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868680" y="3840480"/>
            <a:ext cx="2093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D7F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AD7F6"/>
                </a:solidFill>
                <a:latin typeface="Calibri"/>
                <a:ea typeface="Calibri"/>
                <a:cs typeface="Calibri"/>
                <a:sym typeface="Calibri"/>
              </a:rPr>
              <a:t>Capital raise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3429000" y="2286000"/>
            <a:ext cx="2551176" cy="2377440"/>
          </a:xfrm>
          <a:prstGeom prst="roundRect">
            <a:avLst>
              <a:gd fmla="val 3462" name="adj"/>
            </a:avLst>
          </a:prstGeom>
          <a:solidFill>
            <a:srgbClr val="0F31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3611880" y="2743200"/>
            <a:ext cx="21854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3657600" y="3840480"/>
            <a:ext cx="2093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D7F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AD7F6"/>
                </a:solidFill>
                <a:latin typeface="Calibri"/>
                <a:ea typeface="Calibri"/>
                <a:cs typeface="Calibri"/>
                <a:sym typeface="Calibri"/>
              </a:rPr>
              <a:t>Annual cost of capital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6217920" y="2286000"/>
            <a:ext cx="2551176" cy="2377440"/>
          </a:xfrm>
          <a:prstGeom prst="roundRect">
            <a:avLst>
              <a:gd fmla="val 3462" name="adj"/>
            </a:avLst>
          </a:prstGeom>
          <a:solidFill>
            <a:srgbClr val="0F31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6400800" y="2743200"/>
            <a:ext cx="21854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446520" y="3840480"/>
            <a:ext cx="2093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D7F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AD7F6"/>
                </a:solidFill>
                <a:latin typeface="Calibri"/>
                <a:ea typeface="Calibri"/>
                <a:cs typeface="Calibri"/>
                <a:sym typeface="Calibri"/>
              </a:rPr>
              <a:t>Target ROI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9006840" y="2286000"/>
            <a:ext cx="2551176" cy="2377440"/>
          </a:xfrm>
          <a:prstGeom prst="roundRect">
            <a:avLst>
              <a:gd fmla="val 3462" name="adj"/>
            </a:avLst>
          </a:prstGeom>
          <a:solidFill>
            <a:srgbClr val="0F31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9189720" y="2743200"/>
            <a:ext cx="2185416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2–3x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9235440" y="3840480"/>
            <a:ext cx="209397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D7F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AD7F6"/>
                </a:solidFill>
                <a:latin typeface="Calibri"/>
                <a:ea typeface="Calibri"/>
                <a:cs typeface="Calibri"/>
                <a:sym typeface="Calibri"/>
              </a:rPr>
              <a:t>Capital turns per year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640080" y="5120640"/>
            <a:ext cx="1091153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Capital comes in at 15%. We target 20% returns. We turn the same dollars 2–3 times a year. That spread and velocity is what generates distributions — and enterprise value.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0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90B8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90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90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THE RAISE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How we get to $35M — 110 investors, powered by this room.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1051560" y="15819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4607E"/>
                </a:solidFill>
                <a:latin typeface="Arial"/>
                <a:ea typeface="Arial"/>
                <a:cs typeface="Arial"/>
                <a:sym typeface="Arial"/>
              </a:rPr>
              <a:t>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3931920" y="15819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4607E"/>
                </a:solidFill>
                <a:latin typeface="Arial"/>
                <a:ea typeface="Arial"/>
                <a:cs typeface="Arial"/>
                <a:sym typeface="Arial"/>
              </a:rPr>
              <a:t>INVESTORS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675120" y="15819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4607E"/>
                </a:solidFill>
                <a:latin typeface="Arial"/>
                <a:ea typeface="Arial"/>
                <a:cs typeface="Arial"/>
                <a:sym typeface="Arial"/>
              </a:rPr>
              <a:t>INVESTMENT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9509760" y="158191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4607E"/>
                </a:solidFill>
                <a:latin typeface="Arial"/>
                <a:ea typeface="Arial"/>
                <a:cs typeface="Arial"/>
                <a:sym typeface="Arial"/>
              </a:rPr>
              <a:t>SUBTOTAL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640080" y="1965960"/>
            <a:ext cx="10911535" cy="841248"/>
          </a:xfrm>
          <a:prstGeom prst="roundRect">
            <a:avLst>
              <a:gd fmla="val 6522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1051560" y="205740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3931920" y="205740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50 investors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6675120" y="205740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$100,000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9509760" y="205740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$5M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640080" y="2971800"/>
            <a:ext cx="10911535" cy="841248"/>
          </a:xfrm>
          <a:prstGeom prst="roundRect">
            <a:avLst>
              <a:gd fmla="val 6522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1051560" y="306324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Builder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3931920" y="306324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40 investors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675120" y="306324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$250,000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9509760" y="306324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$10M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40080" y="3977640"/>
            <a:ext cx="10911535" cy="841248"/>
          </a:xfrm>
          <a:prstGeom prst="roundRect">
            <a:avLst>
              <a:gd fmla="val 6522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"/>
          <p:cNvSpPr/>
          <p:nvPr/>
        </p:nvSpPr>
        <p:spPr>
          <a:xfrm>
            <a:off x="1051560" y="406908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Anchor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3931920" y="406908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20 investors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675120" y="406908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$1,000,000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9509760" y="406908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$20M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40080" y="4983480"/>
            <a:ext cx="10911535" cy="841248"/>
          </a:xfrm>
          <a:prstGeom prst="roundRect">
            <a:avLst>
              <a:gd fmla="val 6522" name="adj"/>
            </a:avLst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1051560" y="507492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3931920" y="5074920"/>
            <a:ext cx="2377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110 investors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9509760" y="5074920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$35M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0E2038"/>
                </a:solidFill>
                <a:latin typeface="Calibri"/>
                <a:ea typeface="Calibri"/>
                <a:cs typeface="Calibri"/>
                <a:sym typeface="Calibri"/>
              </a:rPr>
              <a:t>It starts in this room: </a:t>
            </a:r>
            <a:r>
              <a:rPr b="0" i="0" lang="en-US" sz="15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shareholders investing — and each referring ~3 people. Your network is the distribution channel.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THE FLYWHEEL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Reinvest. Refer. Accelerate your own outcome.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640080" y="2834640"/>
            <a:ext cx="1874520" cy="1051560"/>
          </a:xfrm>
          <a:prstGeom prst="roundRect">
            <a:avLst>
              <a:gd fmla="val 7826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749808" y="2944368"/>
            <a:ext cx="16550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Capital in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0" y="32141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3"/>
          <p:cNvSpPr/>
          <p:nvPr/>
        </p:nvSpPr>
        <p:spPr>
          <a:xfrm>
            <a:off x="2898648" y="2834640"/>
            <a:ext cx="1874520" cy="1051560"/>
          </a:xfrm>
          <a:prstGeom prst="roundRect">
            <a:avLst>
              <a:gd fmla="val 7826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3008376" y="2944368"/>
            <a:ext cx="16550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Tech built faster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8888" y="32141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/>
          <p:nvPr/>
        </p:nvSpPr>
        <p:spPr>
          <a:xfrm>
            <a:off x="5157216" y="2834640"/>
            <a:ext cx="1874520" cy="1051560"/>
          </a:xfrm>
          <a:prstGeom prst="roundRect">
            <a:avLst>
              <a:gd fmla="val 7826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5266944" y="2944368"/>
            <a:ext cx="16550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Revenue turns 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7456" y="32141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7415784" y="2834640"/>
            <a:ext cx="1874520" cy="1051560"/>
          </a:xfrm>
          <a:prstGeom prst="roundRect">
            <a:avLst>
              <a:gd fmla="val 7826" name="adj"/>
            </a:avLst>
          </a:prstGeom>
          <a:solidFill>
            <a:srgbClr val="071C33"/>
          </a:solidFill>
          <a:ln cap="flat" cmpd="sng" w="12700">
            <a:solidFill>
              <a:srgbClr val="071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7525512" y="2944368"/>
            <a:ext cx="16550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Distributions start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1" name="Google Shape;27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6024" y="32141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/>
          <p:nvPr/>
        </p:nvSpPr>
        <p:spPr>
          <a:xfrm>
            <a:off x="9674352" y="2834640"/>
            <a:ext cx="1874520" cy="1051560"/>
          </a:xfrm>
          <a:prstGeom prst="roundRect">
            <a:avLst>
              <a:gd fmla="val 7826" name="adj"/>
            </a:avLst>
          </a:prstGeom>
          <a:solidFill>
            <a:srgbClr val="071C33"/>
          </a:solidFill>
          <a:ln cap="flat" cmpd="sng" w="12700">
            <a:solidFill>
              <a:srgbClr val="071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9784080" y="2944368"/>
            <a:ext cx="1655064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Share value climbs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40080" y="420624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… and every distribution funds the next reinvestment. The loop compounds.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2194560" y="4983480"/>
            <a:ext cx="7802575" cy="868680"/>
          </a:xfrm>
          <a:prstGeom prst="roundRect">
            <a:avLst>
              <a:gd fmla="val 8421" name="adj"/>
            </a:avLst>
          </a:prstGeom>
          <a:solidFill>
            <a:srgbClr val="EBF3FE"/>
          </a:solidFill>
          <a:ln cap="flat" cmpd="sng" w="15875">
            <a:solidFill>
              <a:srgbClr val="0B62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2514600" y="5120640"/>
            <a:ext cx="7162495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You're not being asked for a favor — you're accelerating your own outcome.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THE TIMELINE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Speed decides everything.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640080" y="2011680"/>
            <a:ext cx="5257800" cy="3200400"/>
          </a:xfrm>
          <a:prstGeom prst="roundRect">
            <a:avLst>
              <a:gd fmla="val 2571" name="adj"/>
            </a:avLst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1051560" y="233172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IF WE MOVE NOW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1051560" y="2788920"/>
            <a:ext cx="44348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funded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turns 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Distributions flowing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3FA0FF"/>
              </a:buClr>
              <a:buSzPts val="1550"/>
              <a:buFont typeface="Calibri"/>
              <a:buChar char="•"/>
            </a:pPr>
            <a:r>
              <a:rPr b="1" i="0" lang="en-US" sz="1550" u="none" cap="none" strike="noStrike">
                <a:solidFill>
                  <a:srgbClr val="3FA0FF"/>
                </a:solidFill>
                <a:latin typeface="Calibri"/>
                <a:ea typeface="Calibri"/>
                <a:cs typeface="Calibri"/>
                <a:sym typeface="Calibri"/>
              </a:rPr>
              <a:t>Multiple exit opportunities in 2–3 years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6291072" y="2011680"/>
            <a:ext cx="5257800" cy="3200400"/>
          </a:xfrm>
          <a:prstGeom prst="roundRect">
            <a:avLst>
              <a:gd fmla="val 2571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6702552" y="233172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4607E"/>
                </a:solidFill>
                <a:latin typeface="Arial"/>
                <a:ea typeface="Arial"/>
                <a:cs typeface="Arial"/>
                <a:sym typeface="Arial"/>
              </a:rPr>
              <a:t>IF WE WAIT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6702552" y="2788920"/>
            <a:ext cx="44348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The value pushes out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44607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The distributions push out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44607E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The exits push out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44607E"/>
              </a:buClr>
              <a:buSzPts val="1550"/>
              <a:buFont typeface="Calibri"/>
              <a:buChar char="•"/>
            </a:pPr>
            <a:r>
              <a:rPr b="0" i="1" lang="en-US" sz="155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Same destination — the only variable is when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640080" y="5577840"/>
            <a:ext cx="10911535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The window is now — while the surviving platforms consolidate the market.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62E4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62E4"/>
                </a:solidFill>
                <a:latin typeface="Arial"/>
                <a:ea typeface="Arial"/>
                <a:cs typeface="Arial"/>
                <a:sym typeface="Arial"/>
              </a:rPr>
              <a:t>OPTIONALITY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Multiple paths to exit. We're not betting on one door.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640080" y="2057400"/>
            <a:ext cx="3520440" cy="2743200"/>
          </a:xfrm>
          <a:prstGeom prst="roundRect">
            <a:avLst>
              <a:gd fmla="val 3000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1005840" y="2423160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751" y="258007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5"/>
          <p:cNvSpPr/>
          <p:nvPr/>
        </p:nvSpPr>
        <p:spPr>
          <a:xfrm>
            <a:off x="1005840" y="320040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Strategic acquisition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1005840" y="3685032"/>
            <a:ext cx="2788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The tech platform becomes a target for larger fintech and real estate players.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4334256" y="2057400"/>
            <a:ext cx="3520440" cy="2743200"/>
          </a:xfrm>
          <a:prstGeom prst="roundRect">
            <a:avLst>
              <a:gd fmla="val 3000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4700016" y="2423160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6927" y="258007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5"/>
          <p:cNvSpPr/>
          <p:nvPr/>
        </p:nvSpPr>
        <p:spPr>
          <a:xfrm>
            <a:off x="4700016" y="320040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SaaS valuation event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4700016" y="3685032"/>
            <a:ext cx="2788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A recapitalization at recurring-revenue multiples re-rates the equity.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8028432" y="2057400"/>
            <a:ext cx="3520440" cy="2743200"/>
          </a:xfrm>
          <a:prstGeom prst="roundRect">
            <a:avLst>
              <a:gd fmla="val 3000" name="adj"/>
            </a:avLst>
          </a:prstGeom>
          <a:solidFill>
            <a:srgbClr val="EBF3FE"/>
          </a:solidFill>
          <a:ln cap="flat" cmpd="sng" w="12700">
            <a:solidFill>
              <a:srgbClr val="C9DD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8394192" y="2423160"/>
            <a:ext cx="603504" cy="603504"/>
          </a:xfrm>
          <a:prstGeom prst="ellipse">
            <a:avLst/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1103" y="2580071"/>
            <a:ext cx="289682" cy="28968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5"/>
          <p:cNvSpPr/>
          <p:nvPr/>
        </p:nvSpPr>
        <p:spPr>
          <a:xfrm>
            <a:off x="8394192" y="3200400"/>
            <a:ext cx="2788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038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E2038"/>
                </a:solidFill>
                <a:latin typeface="Arial"/>
                <a:ea typeface="Arial"/>
                <a:cs typeface="Arial"/>
                <a:sym typeface="Arial"/>
              </a:rPr>
              <a:t>Portfolio realizations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8394192" y="3685032"/>
            <a:ext cx="2788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60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607E"/>
                </a:solidFill>
                <a:latin typeface="Calibri"/>
                <a:ea typeface="Calibri"/>
                <a:cs typeface="Calibri"/>
                <a:sym typeface="Calibri"/>
              </a:rPr>
              <a:t>Asset sales feed distributions along the way — cash flow before the exit.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640080" y="5166360"/>
            <a:ext cx="10911535" cy="822960"/>
          </a:xfrm>
          <a:prstGeom prst="roundRect">
            <a:avLst>
              <a:gd fmla="val 7778" name="adj"/>
            </a:avLst>
          </a:prstGeom>
          <a:solidFill>
            <a:srgbClr val="071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1051560" y="5285232"/>
            <a:ext cx="10088575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3FA0FF"/>
                </a:solidFill>
                <a:latin typeface="Calibri"/>
                <a:ea typeface="Calibri"/>
                <a:cs typeface="Calibri"/>
                <a:sym typeface="Calibri"/>
              </a:rPr>
              <a:t>Target window: 2–3 years</a:t>
            </a:r>
            <a:r>
              <a:rPr b="0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with aggressive execution. Three doors — any one of them pays.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A6C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AA6C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33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/>
          <p:nvPr/>
        </p:nvSpPr>
        <p:spPr>
          <a:xfrm>
            <a:off x="9082735" y="-2103120"/>
            <a:ext cx="5669280" cy="5669280"/>
          </a:xfrm>
          <a:prstGeom prst="ellipse">
            <a:avLst/>
          </a:prstGeom>
          <a:solidFill>
            <a:srgbClr val="0F315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/>
          <p:nvPr/>
        </p:nvSpPr>
        <p:spPr>
          <a:xfrm>
            <a:off x="-2011680" y="4480560"/>
            <a:ext cx="4572000" cy="4572000"/>
          </a:xfrm>
          <a:prstGeom prst="ellipse">
            <a:avLst/>
          </a:prstGeom>
          <a:solidFill>
            <a:srgbClr val="0F315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640080" y="566928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THE ASK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moves. This week.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6"/>
          <p:cNvSpPr/>
          <p:nvPr/>
        </p:nvSpPr>
        <p:spPr>
          <a:xfrm>
            <a:off x="640080" y="2103120"/>
            <a:ext cx="5257800" cy="2926080"/>
          </a:xfrm>
          <a:prstGeom prst="roundRect">
            <a:avLst>
              <a:gd fmla="val 2813" name="adj"/>
            </a:avLst>
          </a:prstGeom>
          <a:solidFill>
            <a:srgbClr val="0F31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1051560" y="2487168"/>
            <a:ext cx="640080" cy="640080"/>
          </a:xfrm>
          <a:prstGeom prst="ellipse">
            <a:avLst/>
          </a:prstGeom>
          <a:solidFill>
            <a:srgbClr val="0B62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2" name="Google Shape;3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981" y="2653589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6"/>
          <p:cNvSpPr/>
          <p:nvPr/>
        </p:nvSpPr>
        <p:spPr>
          <a:xfrm>
            <a:off x="1920240" y="2560320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Reinvest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1051560" y="342900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BEE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CBEE4"/>
                </a:solidFill>
                <a:latin typeface="Calibri"/>
                <a:ea typeface="Calibri"/>
                <a:cs typeface="Calibri"/>
                <a:sym typeface="Calibri"/>
              </a:rPr>
              <a:t>Choose your tier: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1051560" y="3886200"/>
            <a:ext cx="1417320" cy="566928"/>
          </a:xfrm>
          <a:prstGeom prst="roundRect">
            <a:avLst>
              <a:gd fmla="val 50000" name="adj"/>
            </a:avLst>
          </a:prstGeom>
          <a:solidFill>
            <a:srgbClr val="071C33"/>
          </a:solidFill>
          <a:ln cap="flat" cmpd="sng" w="15875">
            <a:solidFill>
              <a:srgbClr val="3FA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1051560" y="38862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$100K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2624328" y="3886200"/>
            <a:ext cx="1417320" cy="566928"/>
          </a:xfrm>
          <a:prstGeom prst="roundRect">
            <a:avLst>
              <a:gd fmla="val 50000" name="adj"/>
            </a:avLst>
          </a:prstGeom>
          <a:solidFill>
            <a:srgbClr val="071C33"/>
          </a:solidFill>
          <a:ln cap="flat" cmpd="sng" w="15875">
            <a:solidFill>
              <a:srgbClr val="3FA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2624328" y="38862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$250K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4197096" y="3886200"/>
            <a:ext cx="1417320" cy="566928"/>
          </a:xfrm>
          <a:prstGeom prst="roundRect">
            <a:avLst>
              <a:gd fmla="val 50000" name="adj"/>
            </a:avLst>
          </a:prstGeom>
          <a:solidFill>
            <a:srgbClr val="071C33"/>
          </a:solidFill>
          <a:ln cap="flat" cmpd="sng" w="15875">
            <a:solidFill>
              <a:srgbClr val="3FA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4197096" y="3886200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$1M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6291072" y="2103120"/>
            <a:ext cx="5257800" cy="2926080"/>
          </a:xfrm>
          <a:prstGeom prst="roundRect">
            <a:avLst>
              <a:gd fmla="val 2813" name="adj"/>
            </a:avLst>
          </a:prstGeom>
          <a:solidFill>
            <a:srgbClr val="0F31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6702552" y="2487168"/>
            <a:ext cx="640080" cy="640080"/>
          </a:xfrm>
          <a:prstGeom prst="ellipse">
            <a:avLst/>
          </a:prstGeom>
          <a:solidFill>
            <a:srgbClr val="0B62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8973" y="2653589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6"/>
          <p:cNvSpPr/>
          <p:nvPr/>
        </p:nvSpPr>
        <p:spPr>
          <a:xfrm>
            <a:off x="7571232" y="2560320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 3 people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6702552" y="3429000"/>
            <a:ext cx="4434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D7F6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BAD7F6"/>
                </a:solidFill>
                <a:latin typeface="Calibri"/>
                <a:ea typeface="Calibri"/>
                <a:cs typeface="Calibri"/>
                <a:sym typeface="Calibri"/>
              </a:rPr>
              <a:t>Who in your network should hear this story? We make it easy — materials, intro calls with me directly, simple onboarding.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640080" y="553212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6D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FA6D0"/>
                </a:solidFill>
                <a:latin typeface="Calibri"/>
                <a:ea typeface="Calibri"/>
                <a:cs typeface="Calibri"/>
                <a:sym typeface="Calibri"/>
              </a:rPr>
              <a:t>A clear ask from a leader who knows exactly where he's going.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64008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90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90B8"/>
                </a:solidFill>
                <a:latin typeface="Calibri"/>
                <a:ea typeface="Calibri"/>
                <a:cs typeface="Calibri"/>
                <a:sym typeface="Calibri"/>
              </a:rPr>
              <a:t>DiversyFund — The Path Forward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C90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C90B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C33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"/>
          <p:cNvSpPr/>
          <p:nvPr/>
        </p:nvSpPr>
        <p:spPr>
          <a:xfrm>
            <a:off x="9082735" y="-2103120"/>
            <a:ext cx="5669280" cy="5669280"/>
          </a:xfrm>
          <a:prstGeom prst="ellipse">
            <a:avLst/>
          </a:prstGeom>
          <a:solidFill>
            <a:srgbClr val="0F3156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7"/>
          <p:cNvSpPr/>
          <p:nvPr/>
        </p:nvSpPr>
        <p:spPr>
          <a:xfrm>
            <a:off x="-2011680" y="4480560"/>
            <a:ext cx="4572000" cy="4572000"/>
          </a:xfrm>
          <a:prstGeom prst="ellipse">
            <a:avLst/>
          </a:prstGeom>
          <a:solidFill>
            <a:srgbClr val="0F315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640080" y="12344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0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FA0FF"/>
                </a:solidFill>
                <a:latin typeface="Arial"/>
                <a:ea typeface="Arial"/>
                <a:cs typeface="Arial"/>
                <a:sym typeface="Arial"/>
              </a:rPr>
              <a:t>STILL HERE. STILL YOURS. STILL BUILDING.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640080" y="1828800"/>
            <a:ext cx="1088136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 backed one of the originals.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original is still standing.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Now the survivor becomes the technology company.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640080" y="45720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D7F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BAD7F6"/>
                </a:solidFill>
                <a:latin typeface="Calibri"/>
                <a:ea typeface="Calibri"/>
                <a:cs typeface="Calibri"/>
                <a:sym typeface="Calibri"/>
              </a:rPr>
              <a:t>Help us move fast — and the value, and the distributions, come to you faster.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640080" y="5897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Craig Cecilio</a:t>
            </a:r>
            <a:r>
              <a:rPr b="0" i="0" lang="en-US" sz="1400" u="none" cap="none" strike="noStrike">
                <a:solidFill>
                  <a:srgbClr val="7FA6D0"/>
                </a:solidFill>
                <a:latin typeface="Calibri"/>
                <a:ea typeface="Calibri"/>
                <a:cs typeface="Calibri"/>
                <a:sym typeface="Calibri"/>
              </a:rPr>
              <a:t>   Founder &amp; CEO, DiversyFund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